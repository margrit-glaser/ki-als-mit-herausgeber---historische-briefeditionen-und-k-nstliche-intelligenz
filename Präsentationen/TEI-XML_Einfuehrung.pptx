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3" r:id="rId1"/>
  </p:sldMasterIdLst>
  <p:notesMasterIdLst>
    <p:notesMasterId r:id="rId20"/>
  </p:notesMasterIdLst>
  <p:sldIdLst>
    <p:sldId id="256" r:id="rId2"/>
    <p:sldId id="257" r:id="rId3"/>
    <p:sldId id="262" r:id="rId4"/>
    <p:sldId id="258" r:id="rId5"/>
    <p:sldId id="259" r:id="rId6"/>
    <p:sldId id="260" r:id="rId7"/>
    <p:sldId id="261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12192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1" d="100"/>
          <a:sy n="161" d="100"/>
        </p:scale>
        <p:origin x="260" y="1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386088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Ziel der Sitzung: verstehen, wozu Auszeichnung dient, und am Ende eine kleine, valide TEI-Datei für einen Brief oder ein Tagebuch anlegen können. Keine Vorkenntnisse nötig.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Der Punkt ist nicht, dass Word schlecht wäre — sondern dass typografische Konventionen mehrdeutig sind. Kursiv kann alles bedeuten. Ein Tag bedeutet genau eine Sache.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Die Zahl 600 wirkt abschreckend, deshalb sofort die 20 dagegensetzen. Niemand kennt alle Elemente, auch erfahrene Editoren schlagen ständig nach.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Wichtigster Gedanke der Sitzung: single source, multiple outputs. Der Aufwand lohnt sich, weil man die Arbeit nur einmal macht.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Hier langsam machen. Wer den Unterschied zwischen Element und Attribut verstanden hat, versteht 80 Prozent von XML.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Die Schachtelungsregel ist der Grund, warum überlappende Strukturen (Seite vs. Satz) in XML ein Problem sind. Nur erwähnen, nicht vertiefen.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Diese drei Fehler machen alle beim ersten Mal. Vorab zeigen spart viel Frust in der Übung.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Dieses Gerüst einmal gemeinsam abtippen lassen. Es ist die Vorlage, mit der später jede neue Datei beginnt.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sourceDesc ist der Ort, an dem die Handschriftenbeschreibung sitzt. Für den Anfang genügt ein Satz Fließtext in einem &lt;p&gt;.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Hier entscheidet sich die Kodierungstiefe: zeilengetreu oder nicht. Die Entscheidung hängt an der Fragestellung, nicht am technisch Möglichen.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Die Elemente heißen so, wie sie heißen — auswendig lernen muss das niemand. Wichtig ist zu sehen, dass der Brief eine Struktur hat, die man benennen kann.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Auch wenn die Edition noch lange nicht fertig ist: Wer die Korrespondenzmetadaten standardkonform erfasst, kann sie schon jetzt nachnutzen.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Der Unterschied zum Brief: keine Adressaten, dafür eine strenge chronologische Gliederung. Das Datum ist hier die tragende Struktur.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Ohne normiertes Datum bleibt ein Tagebuch eine Textwüste. @when ist der eine Punkt, an dem man nicht sparen sollte.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Bei &lt;choice&gt; betonen: Die Datei trägt beide Fassungen. Ob die Ausgabe normalisiert oder diplomatisch erscheint, entscheidet man später.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Nicht überfordern: Für die Übung reicht die einfache Auszeichnung vollkommen. Die Referenz nur zeigen, damit klar ist, wohin die Reise geht.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Diese Folie eignet sich als Handout. Alles Weitere — Normdaten, Schema, Publikation — baut darauf auf, ersetzt es aber nicht.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Abschluss: Wer das Grundgerüst und die Checkliste mitnimmt, kann morgen anfangen. Alles Weitere lernt man am eigenen Material.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898AC60-5BEB-7B2A-AC5D-D70A20D31E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D4E233DB-3EDE-5E20-9C05-2BC63BB652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9C67D13-6811-E0FC-5662-5B15AA6313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A51639-B2D6-4652-B8C3-1B4C224A7BAF}" type="datetimeFigureOut">
              <a:rPr lang="en-US" smtClean="0"/>
              <a:t>9/15/2026</a:t>
            </a:fld>
            <a:endParaRPr lang="en-US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859666A-B7C0-0BA5-8450-81E0F440AE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7C75237-1603-D6AD-BE4C-2986C9FF28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423164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66D410-2B43-9826-2A0B-8540DCFA0B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CCA00AA-4CDF-A554-6B78-BD932931E2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DAD2E9E-01B4-FFDB-C47D-90D8204698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F5DD9-2C52-442D-92E2-8072C0C3D7CD}" type="datetimeFigureOut">
              <a:rPr lang="en-US" smtClean="0"/>
              <a:t>9/15/2026</a:t>
            </a:fld>
            <a:endParaRPr lang="en-US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95574D9-2296-B804-7A02-77C7BA76F8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0536A22-5949-A871-1966-9FE16101A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8018512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CC08F94-0DCE-BE81-B7CD-58C6A2682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05FF126-F9D8-8DF9-B9A3-207EE7A9BE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E8CDDD0-15C7-767D-A98C-24C3460736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961B7-6B89-48AB-966F-622E2788EECC}" type="datetimeFigureOut">
              <a:rPr lang="en-US" smtClean="0"/>
              <a:t>9/15/2026</a:t>
            </a:fld>
            <a:endParaRPr lang="en-US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C8BA795-50AE-2919-8541-2141B77348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C459D7A-76B6-BD3F-56CA-086D976A78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2236884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689FFBC-3298-6295-EE41-7CCDE5FB45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0CE3ADD-5E0B-877C-44E8-9C4EA9C005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EF039C14-2E79-2504-FC96-EB095668F3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B81D413-E1DC-B1E8-40C8-42CF4EA586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3D6FB-79CC-4683-A046-BBE785BA1BED}" type="datetimeFigureOut">
              <a:rPr lang="en-US" smtClean="0"/>
              <a:t>9/15/2026</a:t>
            </a:fld>
            <a:endParaRPr lang="en-US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BA982C3-BD4B-4AE5-8BDB-D4537F02A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45BC384-9D2D-A5CC-516D-C2E5B4B56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5065228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C2C8B7F-BB35-327F-8CF3-213A5C45E8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2B7AEEC-2216-0205-740E-98CE505FE1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76C687B-DDEF-69BF-4F77-C391423FD0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D5774B02-A6CE-71AF-80C4-A9BB01783B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D1DBC34C-325C-B1E6-2DAD-2A7F2009B8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FF19C6B1-183C-1737-BA55-57FE6C34C8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2B3E8-48F1-4B23-8498-D8A04A81EC9C}" type="datetimeFigureOut">
              <a:rPr lang="en-US" smtClean="0"/>
              <a:t>9/15/2026</a:t>
            </a:fld>
            <a:endParaRPr lang="en-US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96B0F06C-E585-E551-8335-ACE0064CDC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6DF04DB5-72F1-A0F4-F58A-05F417691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2722639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6351771-8F5C-E8F5-167B-FE2F9CB930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CAEE8D6E-C5E6-EDC2-C4A4-F298FE4778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90D90-AA62-404D-A741-635B4370F9CB}" type="datetimeFigureOut">
              <a:rPr lang="en-US" smtClean="0"/>
              <a:t>9/15/2026</a:t>
            </a:fld>
            <a:endParaRPr lang="en-US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BB8E487-785A-4BA6-4958-45B8C97C3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22392AD-ADB2-A81E-CE56-F5D124DCB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4463876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3E9B3299-E3BA-70F0-E832-1CB9456127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002E4-6836-46D1-9DBB-3C27C0DD3A89}" type="datetimeFigureOut">
              <a:rPr lang="en-US" smtClean="0"/>
              <a:t>9/15/2026</a:t>
            </a:fld>
            <a:endParaRPr lang="en-US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5B0E298C-4657-E76E-AC39-71F5930F48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F8C49F9-71A9-8EB6-CD86-47D4105FF6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3076878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5A0DA56-D1D2-44B6-F131-39FB9C2490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72B8C24-77EC-3BAB-AC2B-57F2689A56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FA91B0F-BEEA-2C24-F4C9-EA7A378595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098E5B8-671E-BEDD-3FB8-368F47E610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131DD-A141-4471-BCF9-C6073EDD7E20}" type="datetimeFigureOut">
              <a:rPr lang="en-US" smtClean="0"/>
              <a:t>9/15/2026</a:t>
            </a:fld>
            <a:endParaRPr lang="en-US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16D1AEC-2E76-9DBE-79C9-7BB372B732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1762E0D-66D8-05F5-5479-03325C11B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0182166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A3530A2-A449-B712-24C8-FA93D75C99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55490A26-E1A1-B0B0-908A-D089983B11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97D939CA-6AF5-A5A7-9A4E-18B0F66385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7C8D786-F8D4-9F04-1063-5F2374AFD2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34A90-EB03-42F3-8859-2C2B2724C058}" type="datetimeFigureOut">
              <a:rPr lang="en-US" smtClean="0"/>
              <a:t>9/15/2026</a:t>
            </a:fld>
            <a:endParaRPr lang="en-US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EEDD296-3B74-208B-FB4E-4BC69D9242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CBEEFD0-8963-DDC4-E468-B21339C8ED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4050317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85CB516-B50E-7F30-4117-7C3E5BB25E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017C4ABB-829C-1EDE-FF7E-E0EB160B39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1A91202-A4EC-ED54-C629-BA4B88ADC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A6AA8-A04B-4104-9AE2-BD48D340E27F}" type="datetimeFigureOut">
              <a:rPr lang="en-US" smtClean="0"/>
              <a:t>9/15/2026</a:t>
            </a:fld>
            <a:endParaRPr lang="en-US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164F162-7998-DABA-A154-C6B82D1848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D4897BF-8C56-99F7-9170-EBABECEC5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4680371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80979F41-4FF2-CB0F-C93A-DEFD11FD7C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D869C5E0-4B01-CD08-6440-FF3C99D4B3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EF01202-00AC-B4C1-65F8-BD363085A5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0BF79-FAC6-4A96-8DE1-F7B82E2E1652}" type="datetimeFigureOut">
              <a:rPr lang="en-US" smtClean="0"/>
              <a:t>9/15/2026</a:t>
            </a:fld>
            <a:endParaRPr lang="en-US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447D297-95DF-1FDC-80C4-BD08AD3FC6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FC9AAE9-FCF7-513F-458D-42B5DFEE06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030848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924446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F2CA6FEF-06DD-F557-6DFD-11C01F529A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2807A08-80EF-E5F5-E0CA-8905FCE22F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32750AC-56B9-E6F4-7490-5BA6E7DB15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C48EC7-AF6A-48D3-8284-14BACBEBDD84}" type="datetimeFigureOut">
              <a:rPr lang="en-US" smtClean="0"/>
              <a:t>9/15/2026</a:t>
            </a:fld>
            <a:endParaRPr lang="en-US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A5C82F0-A1E1-913E-5F22-BEA2E4E847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50D53B0-CF14-8858-40A4-4D68A5C054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64719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tei-c.org/release/doc/tei-p5-doc/en/html/index.html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2860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TEI-XML für Einsteiger:innen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man Briefe und Tagebücher digital erfasst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Problem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1064240" cy="5303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i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Eine Transkription in Word:</a:t>
            </a:r>
            <a:endParaRPr lang="en-US" sz="1600"/>
          </a:p>
          <a:p>
            <a:pPr marL="0" indent="0">
              <a:spcAft>
                <a:spcPts val="400"/>
              </a:spcAft>
              <a:buNone/>
            </a:pPr>
            <a:r>
              <a:rPr lang="en-US" sz="100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/>
          </a:p>
          <a:p>
            <a:pPr marL="0" indent="0">
              <a:spcAft>
                <a:spcPts val="400"/>
              </a:spcAft>
              <a:buNone/>
            </a:pPr>
            <a:r>
              <a:rPr lang="en-US" sz="130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Rom, d. 12. April 98</a:t>
            </a:r>
            <a:endParaRPr lang="en-US" sz="1600"/>
          </a:p>
          <a:p>
            <a:pPr marL="0" indent="0">
              <a:spcAft>
                <a:spcPts val="400"/>
              </a:spcAft>
              <a:buNone/>
            </a:pPr>
            <a:r>
              <a:rPr lang="en-US" sz="130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Hochverehrter Freund!</a:t>
            </a:r>
            <a:endParaRPr lang="en-US" sz="1600"/>
          </a:p>
          <a:p>
            <a:pPr marL="0" indent="0">
              <a:spcAft>
                <a:spcPts val="400"/>
              </a:spcAft>
              <a:buNone/>
            </a:pPr>
            <a:r>
              <a:rPr lang="en-US" sz="130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Ihr Schreiben vom vorigen Monat hat mich erst gestern erreicht ...</a:t>
            </a:r>
            <a:endParaRPr lang="en-US" sz="1600"/>
          </a:p>
          <a:p>
            <a:pPr marL="0" indent="0">
              <a:spcAft>
                <a:spcPts val="400"/>
              </a:spcAft>
              <a:buNone/>
            </a:pPr>
            <a:r>
              <a:rPr lang="en-US" sz="100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/>
          </a:p>
          <a:p>
            <a:pPr marL="0" indent="0">
              <a:spcAft>
                <a:spcPts val="400"/>
              </a:spcAft>
              <a:buNone/>
            </a:pPr>
            <a:r>
              <a:rPr lang="en-US" sz="1600" b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Computer sieht hier nur Buchstaben. Er weiß nicht:</a:t>
            </a:r>
            <a:endParaRPr lang="en-US" sz="16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dass „Rom“ ein Ort ist</a:t>
            </a:r>
            <a:endParaRPr lang="en-US" sz="16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dass „12. April 98“ der 12.04.1798 ist</a:t>
            </a:r>
            <a:endParaRPr lang="en-US" sz="16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dass „Hochverehrter Freund!“ die Anrede ist</a:t>
            </a:r>
            <a:endParaRPr lang="en-US" sz="16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dass „vorigen“ in der Handschrift gestrichen wurde</a:t>
            </a:r>
            <a:endParaRPr lang="en-US" sz="1600"/>
          </a:p>
          <a:p>
            <a:pPr marL="0" indent="0">
              <a:spcAft>
                <a:spcPts val="400"/>
              </a:spcAft>
              <a:buNone/>
            </a:pPr>
            <a:r>
              <a:rPr lang="en-US" sz="100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/>
          </a:p>
          <a:p>
            <a:pPr marL="0" indent="0">
              <a:spcAft>
                <a:spcPts val="400"/>
              </a:spcAft>
              <a:buNone/>
            </a:pPr>
            <a:r>
              <a:rPr lang="en-US" sz="1600" b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Auszeichnen heißt: dem Computer sagen, was die Dinge sind.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ist TEI?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1064240" cy="5303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Encoding Initiative, entstanden Ende der 1980er Jahre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 Programm und keine Software, sondern ein vereinbartes Vokabular: Welches Element heißt wie — und was bedeutet es?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der Digital Humanities. Wer TEI benutzt, kann Daten mit anderen Projekten teilen und langfristig archivieren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Umfang: rund 600 Elemente. Für den Anfang braucht man etwa 20.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&lt;persName&gt; bedeutet in Weimar dasselbe wie in Wien oder Oxford. Genau deshalb lassen sich Register und Briefverzeichnisse über Projektgrenzen hinweg zusammenführen.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TEI ist ein Baukasten. Jedes Projekt wählt aus, was es </a:t>
            </a:r>
            <a:r>
              <a:rPr lang="en-US" sz="1600" b="1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braucht</a:t>
            </a:r>
            <a:endParaRPr lang="en-US" sz="1600" b="1" dirty="0">
              <a:solidFill>
                <a:srgbClr val="00000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spcAft>
                <a:spcPts val="400"/>
              </a:spcAft>
              <a:buNone/>
            </a:pPr>
            <a:endParaRPr lang="en-US" sz="1600" b="1" dirty="0">
              <a:solidFill>
                <a:srgbClr val="00000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spcAft>
                <a:spcPts val="400"/>
              </a:spcAft>
            </a:pPr>
            <a:r>
              <a:rPr lang="de-DE" sz="1600" dirty="0">
                <a:latin typeface="Calibri" panose="020F0502020204030204" pitchFamily="34" charset="0"/>
                <a:cs typeface="Calibri" panose="020F0502020204030204" pitchFamily="34" charset="0"/>
              </a:rPr>
              <a:t>Guidelines: </a:t>
            </a:r>
            <a:r>
              <a:rPr lang="de-DE" sz="1600" dirty="0">
                <a:latin typeface="Calibri" panose="020F0502020204030204" pitchFamily="34" charset="0"/>
                <a:cs typeface="Calibri" panose="020F0502020204030204" pitchFamily="34" charset="0"/>
                <a:hlinkClick r:id="rId3"/>
              </a:rPr>
              <a:t>https://tei-c.org/release/doc/tei-p5-doc/en/html/index.html</a:t>
            </a:r>
            <a:endParaRPr lang="en-US" sz="1600" dirty="0">
              <a:latin typeface="Calibri" panose="020F0502020204030204"/>
            </a:endParaRPr>
          </a:p>
          <a:p>
            <a:pPr marL="0" indent="0">
              <a:spcAft>
                <a:spcPts val="400"/>
              </a:spcAft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Auszeichnung leistet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1064240" cy="5303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Steht die Information einmal in der Datei, lässt sich daraus automatisch erzeugen:</a:t>
            </a:r>
            <a:endParaRPr lang="en-US" sz="1600"/>
          </a:p>
          <a:p>
            <a:pPr marL="0" indent="0">
              <a:spcAft>
                <a:spcPts val="400"/>
              </a:spcAft>
              <a:buNone/>
            </a:pPr>
            <a:r>
              <a:rPr lang="en-US" sz="100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Personen-, Orts- und Briefregister</a:t>
            </a:r>
            <a:endParaRPr lang="en-US" sz="16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eine chronologische Sortierung</a:t>
            </a:r>
            <a:endParaRPr lang="en-US" sz="16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eine Suche nach „alle Briefe aus Rom von 1798“</a:t>
            </a:r>
            <a:endParaRPr lang="en-US" sz="16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eine Leseansicht und eine diplomatische Ansicht aus derselben Datei</a:t>
            </a:r>
            <a:endParaRPr lang="en-US" sz="1600"/>
          </a:p>
          <a:p>
            <a:pPr marL="0" indent="0">
              <a:spcAft>
                <a:spcPts val="400"/>
              </a:spcAft>
              <a:buNone/>
            </a:pPr>
            <a:r>
              <a:rPr lang="en-US" sz="100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/>
          </a:p>
          <a:p>
            <a:pPr marL="0" indent="0">
              <a:spcAft>
                <a:spcPts val="400"/>
              </a:spcAft>
              <a:buNone/>
            </a:pPr>
            <a:r>
              <a:rPr lang="en-US" sz="1600" b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 schreibt die Datei einmal und gewinnt daraus viele Ansichten.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XML: die Grundbausteine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1064240" cy="5303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&lt;placeName&gt;Rom&lt;/placeName&gt;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 — alles zwischen öffnendem und schließendem Tag. Jedes geöffnete Element wird wieder geschlossen.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&lt;date when="1798-04-12"&gt;d. 12. April 98&lt;/date&gt;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 — Zusatzinformation im öffnenden Tag. Der Wert steht immer in Anführungszeichen.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&lt;lb/&gt;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Leeres Element — markiert nur eine Stelle und hat keinen Inhalt, hier </a:t>
            </a:r>
            <a:r>
              <a:rPr lang="en-US" sz="16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einen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Zeilenbeginn</a:t>
            </a:r>
            <a:endParaRPr lang="en-US" sz="1600" dirty="0">
              <a:solidFill>
                <a:srgbClr val="00000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spcAft>
                <a:spcPts val="400"/>
              </a:spcAft>
              <a:buNone/>
            </a:pPr>
            <a:endParaRPr lang="de-DE" sz="1300" dirty="0"/>
          </a:p>
          <a:p>
            <a:pPr marL="0" indent="0">
              <a:spcAft>
                <a:spcPts val="400"/>
              </a:spcAft>
              <a:buNone/>
            </a:pPr>
            <a:br>
              <a:rPr lang="de-DE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endParaRPr lang="de-DE" sz="1600" dirty="0">
              <a:solidFill>
                <a:srgbClr val="00000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spcAft>
                <a:spcPts val="400"/>
              </a:spcAft>
              <a:buNone/>
            </a:pPr>
            <a:endParaRPr lang="de-DE" sz="1600" dirty="0">
              <a:solidFill>
                <a:srgbClr val="00000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spcAft>
                <a:spcPts val="400"/>
              </a:spcAft>
              <a:buNone/>
            </a:pP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XML: die drei Regeln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1064240" cy="5303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Sauber schachteln</a:t>
            </a:r>
            <a:endParaRPr lang="en-US" sz="1600"/>
          </a:p>
          <a:p>
            <a:pPr marL="0" indent="0">
              <a:spcAft>
                <a:spcPts val="400"/>
              </a:spcAft>
              <a:buNone/>
            </a:pPr>
            <a:r>
              <a:rPr lang="en-US" sz="130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&lt;p&gt;Ein &lt;hi&gt;gutes&lt;/hi&gt; Beispiel.&lt;/p&gt;        richtig</a:t>
            </a:r>
            <a:endParaRPr lang="en-US" sz="1600"/>
          </a:p>
          <a:p>
            <a:pPr marL="0" indent="0">
              <a:spcAft>
                <a:spcPts val="400"/>
              </a:spcAft>
              <a:buNone/>
            </a:pPr>
            <a:r>
              <a:rPr lang="en-US" sz="130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&lt;p&gt;Ein &lt;hi&gt;falsches&lt;/p&gt;&lt;/hi&gt;               falsch</a:t>
            </a:r>
            <a:endParaRPr lang="en-US" sz="1600"/>
          </a:p>
          <a:p>
            <a:pPr marL="0" indent="0">
              <a:spcAft>
                <a:spcPts val="400"/>
              </a:spcAft>
              <a:buNone/>
            </a:pPr>
            <a:r>
              <a:rPr lang="en-US" sz="100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/>
          </a:p>
          <a:p>
            <a:pPr marL="0" indent="0">
              <a:spcAft>
                <a:spcPts val="400"/>
              </a:spcAft>
              <a:buNone/>
            </a:pPr>
            <a:r>
              <a:rPr lang="en-US" sz="1600" b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Ein einziges Wurzelelement</a:t>
            </a:r>
            <a:endParaRPr lang="en-US" sz="1600"/>
          </a:p>
          <a:p>
            <a:pPr marL="0" indent="0">
              <a:spcAft>
                <a:spcPts val="400"/>
              </a:spcAft>
              <a:buNone/>
            </a:pPr>
            <a:r>
              <a:rPr lang="en-US" sz="160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Element umschließt die ganze Datei. Bei TEI ist das &lt;TEI&gt;.</a:t>
            </a:r>
            <a:endParaRPr lang="en-US" sz="1600"/>
          </a:p>
          <a:p>
            <a:pPr marL="0" indent="0">
              <a:spcAft>
                <a:spcPts val="400"/>
              </a:spcAft>
              <a:buNone/>
            </a:pPr>
            <a:r>
              <a:rPr lang="en-US" sz="100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/>
          </a:p>
          <a:p>
            <a:pPr marL="0" indent="0">
              <a:spcAft>
                <a:spcPts val="400"/>
              </a:spcAft>
              <a:buNone/>
            </a:pPr>
            <a:r>
              <a:rPr lang="en-US" sz="1600" b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Groß- und Kleinschreibung zählt</a:t>
            </a:r>
            <a:endParaRPr lang="en-US" sz="1600"/>
          </a:p>
          <a:p>
            <a:pPr marL="0" indent="0">
              <a:spcAft>
                <a:spcPts val="400"/>
              </a:spcAft>
              <a:buNone/>
            </a:pPr>
            <a:r>
              <a:rPr lang="en-US" sz="160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&lt;persName&gt; ist nicht dasselbe wie &lt;PersName&gt;. TEI schreibt sich immer so, wie es in den Guidelines steht.</a:t>
            </a:r>
            <a:endParaRPr lang="en-US" sz="1600"/>
          </a:p>
          <a:p>
            <a:pPr marL="0" indent="0">
              <a:spcAft>
                <a:spcPts val="400"/>
              </a:spcAft>
              <a:buNone/>
            </a:pPr>
            <a:r>
              <a:rPr lang="en-US" sz="100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/>
          </a:p>
          <a:p>
            <a:pPr marL="0" indent="0">
              <a:spcAft>
                <a:spcPts val="400"/>
              </a:spcAft>
              <a:buNone/>
            </a:pPr>
            <a:r>
              <a:rPr lang="en-US" sz="1600" i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 diese Regeln einhält, schreibt wohlgeformtes XML — der Editor meldet sofort, wenn etwas nicht stimmt.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Drei typische Anfängerfehler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1064240" cy="5303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oder &lt; mitten im Text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&amp;amp; bzw. &amp;lt; schreiben — die Zeichen sind für XML reserviert.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Attributwert ohne Anführungszeichen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n=1 ist falsch, n="1" ist richtig. Immer beide Zeichen setzen.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Datei in falscher Kodierung gespeichert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Immer UTF-8. Dann sind Umlaute, ß und Sonderzeichen kein Problem.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Grundgerüst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1064240" cy="5303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TEI-</a:t>
            </a:r>
            <a:r>
              <a:rPr lang="en-US" sz="16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Datei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sieht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so </a:t>
            </a:r>
            <a:r>
              <a:rPr lang="en-US" sz="16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&lt;?xml version="1.0" encoding="UTF-8"?&gt;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&lt;TEI </a:t>
            </a:r>
            <a:r>
              <a:rPr lang="en-US" sz="1300" dirty="0" err="1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xmlns</a:t>
            </a: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="http://www.tei-c.org/ns/1.0"&gt;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</a:t>
            </a:r>
            <a:r>
              <a:rPr lang="en-US" sz="1300" dirty="0" err="1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teiHeader</a:t>
            </a: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&lt;!-- </a:t>
            </a:r>
            <a:r>
              <a:rPr lang="en-US" sz="1300" dirty="0" err="1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Metadaten</a:t>
            </a: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Was </a:t>
            </a:r>
            <a:r>
              <a:rPr lang="en-US" sz="1300" dirty="0" err="1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ist</a:t>
            </a: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das für </a:t>
            </a:r>
            <a:r>
              <a:rPr lang="en-US" sz="1300" dirty="0" err="1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ein</a:t>
            </a: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 err="1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Dokument</a:t>
            </a: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 --&gt;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</a:t>
            </a:r>
            <a:r>
              <a:rPr lang="en-US" sz="1300" dirty="0" err="1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teiHeader</a:t>
            </a: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&lt;text&gt;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&lt;body&gt;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&lt;!-- die </a:t>
            </a:r>
            <a:r>
              <a:rPr lang="en-US" sz="1300" dirty="0" err="1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Transkription</a:t>
            </a: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--&gt;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&lt;/body&gt;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&lt;/text&gt;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&lt;/TEI&gt;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Zwei </a:t>
            </a:r>
            <a:r>
              <a:rPr lang="en-US" sz="1600" b="1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Teile</a:t>
            </a: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600" b="1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Beschreibung</a:t>
            </a: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sz="1600" b="1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teiHeader</a:t>
            </a: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und Text. </a:t>
            </a:r>
            <a:r>
              <a:rPr lang="en-US" sz="1600" b="1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Beide</a:t>
            </a: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sind</a:t>
            </a: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verpflichtend</a:t>
            </a: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kleinstmögliche teiHeader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1064240" cy="5303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&lt;teiHeader&gt;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&lt;fileDesc&gt;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&lt;titleStmt&gt;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&lt;title&gt;Fernow an Böttiger, 12. April 1798&lt;/title&gt;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&lt;/titleStmt&gt;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&lt;publicationStmt&gt;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&lt;p&gt;Arbeitsfassung, unveröffentlicht.&lt;/p&gt;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&lt;/publicationStmt&gt;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&lt;sourceDesc&gt;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&lt;p&gt;Handschrift, 2 Blatt. Signatur: XY 123.&lt;/p&gt;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&lt;/sourceDesc&gt;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&lt;/fileDesc&gt;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&lt;/teiHeader&gt;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Diese drei sind Pflicht: Titel, Angaben zur Veröffentlichung, Beschreibung der Vorlage.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Mehr ist erlaubt, weniger nicht.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Vorlage abbilden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1064240" cy="5303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 Elemente, die in praktisch jeder Transkription vorkommen: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&lt;p&gt; ... &lt;/p&gt;        </a:t>
            </a:r>
            <a:r>
              <a:rPr lang="en-US" sz="1300" dirty="0" err="1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Absatz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&lt;lb/&gt;               </a:t>
            </a:r>
            <a:r>
              <a:rPr lang="en-US" sz="1300" dirty="0" err="1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Zeilenbeginn</a:t>
            </a: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der </a:t>
            </a:r>
            <a:r>
              <a:rPr lang="en-US" sz="1300" dirty="0" err="1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Handschrift</a:t>
            </a: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/Quelle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&lt;pb n="1v"/&gt;        </a:t>
            </a:r>
            <a:r>
              <a:rPr lang="en-US" sz="1300" dirty="0" err="1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Seitenbeginn</a:t>
            </a: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der </a:t>
            </a:r>
            <a:r>
              <a:rPr lang="en-US" sz="1300" dirty="0" err="1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Handschrift</a:t>
            </a: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/Quelle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&lt;div&gt; ... &lt;/div&gt;    </a:t>
            </a:r>
            <a:r>
              <a:rPr lang="en-US" sz="1300" dirty="0" err="1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Abschnitt</a:t>
            </a: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z. B. ein Tagebucheintrag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&lt;lb/&gt; und &lt;pb/&gt; bilden die Vorlage ab, nicht den Bildschirm.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 keine zeilengetreue Transkription braucht, kann &lt;lb/&gt; auch weglassen.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für einen Brief: der Text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1064240" cy="5303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&lt;body&gt;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&lt;div type="letter"&gt;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&lt;opener&gt;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&lt;dateline&gt;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&lt;placeName&gt;Rom&lt;/placeName&gt;,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&lt;date when="1798-04-12"&gt;d. 12. April 98&lt;/date&gt;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&lt;/dateline&gt;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&lt;salute&gt;Hochverehrter Freund!&lt;/salute&gt;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&lt;/opener&gt;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&lt;p&gt;Ihr Schreiben hat mich erst gestern erreicht ...&lt;/p&gt;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&lt;closer&gt;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&lt;salute&gt;Der Ihrige&lt;/salute&gt;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&lt;signed&gt;Fernow&lt;/signed&gt;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&lt;/closer&gt;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&lt;/div&gt;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&lt;/body&gt;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für einen Brief: die Metadaten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1064240" cy="5303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 teiHeader, innerhalb von &lt;profileDesc&gt;: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&lt;correspDesc&gt;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&lt;correspAction type="sent"&gt;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&lt;persName&gt;Carl Ludwig Fernow&lt;/persName&gt;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&lt;placeName&gt;Rom&lt;/placeName&gt;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&lt;date when="1798-04-12"/&gt;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&lt;/correspAction&gt;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&lt;correspAction type="received"&gt;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&lt;persName&gt;Karl August Böttiger&lt;/persName&gt;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&lt;placeName&gt;Weimar&lt;/placeName&gt;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&lt;/correspAction&gt;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&lt;/correspDesc&gt;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 – an wen – von wo – nach wo – wann.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diesen fünf Angaben ist ein Brief auffindbar und sortierbar.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für ein Tagebuch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1064240" cy="5303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Tagebuch ist eine Folge datierter Einträge. Jeder Eintrag ist ein eigenes &lt;div&gt; mit einem Datum: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&lt;body&gt;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&lt;div type="diary"&gt;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&lt;div type="entry"&gt;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&lt;head&gt;&lt;date when="1825-01-01"&gt;Den 1. Januar.&lt;/date&gt;&lt;/head&gt;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&lt;p&gt;Mittag zu dreien. Abends Hofrath Meyer.&lt;/p&gt;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&lt;/div&gt;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&lt;div type="entry"&gt;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&lt;head&gt;&lt;date when="1825-01-02"&gt;2. Januar.&lt;/date&gt;&lt;/head&gt;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&lt;p&gt;Briefe expedirt. Spazierfahrt nach Oberweimar.&lt;/p&gt;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&lt;/div&gt;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&lt;/div&gt;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&lt;/body&gt;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Datum ist der Schlüssel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1064240" cy="5303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&lt;date when="1825-01-02"&gt;2. Januar.&lt;/date&gt;</a:t>
            </a:r>
            <a:endParaRPr lang="en-US" sz="1300"/>
          </a:p>
          <a:p>
            <a:pPr marL="0" indent="0">
              <a:spcAft>
                <a:spcPts val="400"/>
              </a:spcAft>
              <a:buNone/>
            </a:pPr>
            <a:r>
              <a:rPr lang="en-US" sz="100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Text bleibt so stehen, wie er in der Vorlage steht</a:t>
            </a:r>
            <a:endParaRPr lang="en-US" sz="13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Attribut @when enthält das Datum normiert im Format JJJJ-MM-TT</a:t>
            </a:r>
            <a:endParaRPr lang="en-US" sz="13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 dadurch lässt sich sortieren, filtern und mit anderen Quellen verknüpfen</a:t>
            </a:r>
            <a:endParaRPr lang="en-US" sz="1300"/>
          </a:p>
          <a:p>
            <a:pPr marL="0" indent="0">
              <a:spcAft>
                <a:spcPts val="400"/>
              </a:spcAft>
              <a:buNone/>
            </a:pPr>
            <a:r>
              <a:rPr lang="en-US" sz="100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/>
          </a:p>
          <a:p>
            <a:pPr marL="0" indent="0">
              <a:spcAft>
                <a:spcPts val="400"/>
              </a:spcAft>
              <a:buNone/>
            </a:pPr>
            <a:r>
              <a:rPr lang="en-US" sz="1600" b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Unvollständige oder unsichere Daten:</a:t>
            </a:r>
            <a:endParaRPr lang="en-US" sz="1300"/>
          </a:p>
          <a:p>
            <a:pPr marL="0" indent="0">
              <a:spcAft>
                <a:spcPts val="400"/>
              </a:spcAft>
              <a:buNone/>
            </a:pPr>
            <a:r>
              <a:rPr lang="en-US" sz="130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&lt;date when="1825-01"&gt;Januar&lt;/date&gt;</a:t>
            </a:r>
            <a:endParaRPr lang="en-US" sz="1300"/>
          </a:p>
          <a:p>
            <a:pPr marL="0" indent="0">
              <a:spcAft>
                <a:spcPts val="400"/>
              </a:spcAft>
              <a:buNone/>
            </a:pPr>
            <a:r>
              <a:rPr lang="en-US" sz="130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&lt;date notBefore="1825-01-01" notAfter="1825-01-31"&gt;Anfang des Jahres&lt;/date&gt;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Fünf editorische Fälle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1064240" cy="5303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&lt;del&gt;vorigen&lt;/del&gt;                                    gestrichen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&lt;add place="above"&gt;letzten&lt;/add&gt;                      eingefügt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&lt;unclear&gt;Weimar&lt;/unclear&gt;                             unsichere Lesung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&lt;gap reason="damage"/&gt;                                Textverlust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&lt;choice&gt;&lt;sic&gt;Goehte&lt;/sic&gt;&lt;corr&gt;Goethe&lt;/corr&gt;&lt;/choice&gt;  Fehler + Korrektur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Mehr braucht man am Anfang nicht.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Entscheidend ist, dass Befund und Eingriff getrennt bleiben — und beides in der Datei sichtbar ist.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Namen auszeichnen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1064240" cy="5303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Zunächst genügt das: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&lt;persName&gt;Hofrath Meyer&lt;/persName&gt;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&lt;placeName&gt;Oberweimar&lt;/placeName&gt;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Daraus entsteht bereits ein Register. Später lässt sich ergänzen, wer genau gemeint ist: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&lt;persName ref="https://d-nb.info/gnd/117566837"&gt;Hofrath Meyer&lt;/persName&gt;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Erst diese eindeutige Referenz unterscheidet zwei Personen gleichen Namens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und verbindet die eigene Edition mit anderen Projekten.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Checkliste: Minimalanforderungen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1064240" cy="5303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Immer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XML-Deklaration und UTF-8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&lt;TEI&gt; mit teiHeader und text/body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titleStmt, publicationStmt, sourceDesc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Datei validiert ohne Fehler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zusätzlich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correspDesc: Absender, Empfänger, Ort, Datum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opener und closer mit dateline, salute, signed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Datum </a:t>
            </a:r>
            <a:r>
              <a:rPr lang="en-US" sz="16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normiert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&lt;date when="..."&gt;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Tagebuch zusätzlich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&lt;div type="entry"&gt; pro Eintrag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Datum </a:t>
            </a:r>
            <a:r>
              <a:rPr lang="en-US" sz="16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normiert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&lt;date when="..."&gt;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Womit arbeiten?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1064240" cy="5303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oXygen XML Editor — Standard in der Editionsphilologie, meldet Fehler sofort; akademische Lizenzen verfügbar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mit der Erweiterung Scholarly XML — kostenlose Alternative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Zum Nachschlagen: TEI by Example (geführte Tutorials), die TEI Guidelines als Referenz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1992</Words>
  <Application>Microsoft Office PowerPoint</Application>
  <PresentationFormat>Breitbild</PresentationFormat>
  <Paragraphs>256</Paragraphs>
  <Slides>18</Slides>
  <Notes>18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18</vt:i4>
      </vt:variant>
    </vt:vector>
  </HeadingPairs>
  <TitlesOfParts>
    <vt:vector size="24" baseType="lpstr">
      <vt:lpstr>Aptos</vt:lpstr>
      <vt:lpstr>Aptos Display</vt:lpstr>
      <vt:lpstr>Arial</vt:lpstr>
      <vt:lpstr>Calibri</vt:lpstr>
      <vt:lpstr>Courier New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TEI-XML für Einsteiger:innen</dc:title>
  <dc:subject>PptxGenJS Presentation</dc:subject>
  <dc:creator>PptxGenJS</dc:creator>
  <cp:lastModifiedBy>Glaser, Margrit</cp:lastModifiedBy>
  <cp:revision>4</cp:revision>
  <dcterms:created xsi:type="dcterms:W3CDTF">2026-09-14T05:13:00Z</dcterms:created>
  <dcterms:modified xsi:type="dcterms:W3CDTF">2026-09-15T04:29:31Z</dcterms:modified>
</cp:coreProperties>
</file>