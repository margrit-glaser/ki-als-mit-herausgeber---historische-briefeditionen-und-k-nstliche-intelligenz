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63" r:id="rId3"/>
    <p:sldId id="266" r:id="rId4"/>
    <p:sldId id="262" r:id="rId5"/>
    <p:sldId id="267" r:id="rId6"/>
    <p:sldId id="278" r:id="rId7"/>
    <p:sldId id="268" r:id="rId8"/>
    <p:sldId id="269" r:id="rId9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52" d="100"/>
          <a:sy n="152" d="100"/>
        </p:scale>
        <p:origin x="13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BB699-1C5A-4F22-A7E2-FB0108D8571B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9806F-32EF-4BC1-9592-9BEF2B3F69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368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hteck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CDD41-DE36-4745-A7FA-57A67A8F3986}" type="datetime1">
              <a:rPr lang="de-DE" smtClean="0"/>
              <a:t>14.09.2026</a:t>
            </a:fld>
            <a:endParaRPr lang="de-DE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hteck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E727-C83D-46CB-86FB-0BB8995AA02F}" type="datetime1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hteck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hteck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3" name="Rechteck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hteck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BB66-E7B0-4EC6-BECB-A27B586CECEB}" type="datetime1">
              <a:rPr lang="de-DE" smtClean="0"/>
              <a:t>14.09.2026</a:t>
            </a:fld>
            <a:endParaRPr lang="de-DE"/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78F0993-B1D3-445D-935B-56C1A111B071}" type="datetime1">
              <a:rPr lang="de-DE" smtClean="0"/>
              <a:t>14.09.2026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Inhaltsplatzhalt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12" name="Inhaltsplatzhalt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erade Verbindung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hteck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hteck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hteck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hteck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hteck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3814C-FDC3-4C5F-A641-574755192712}" type="datetime1">
              <a:rPr lang="de-DE" smtClean="0"/>
              <a:t>14.09.2026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de-DE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Inhaltsplatzhalt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Inhaltsplatzhalt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23" name="Titel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8BEF-DBC2-43B2-946A-F37869933B6A}" type="datetime1">
              <a:rPr lang="de-DE" smtClean="0"/>
              <a:t>14.09.2026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hteck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hteck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hteck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hteck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88B39-5AB4-4D9E-B123-D986161A48D8}" type="datetime1">
              <a:rPr lang="de-DE" smtClean="0"/>
              <a:t>14.09.2026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hteck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hteck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Inhaltsplatzhalt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21" name="Rechteck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C8AE-27DA-43F6-813F-382C949156CA}" type="datetime1">
              <a:rPr lang="de-DE" smtClean="0"/>
              <a:t>14.09.2026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erade Verbindung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hteck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hteck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hteck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22" name="Rechteck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659F5269-5E54-4B2E-975C-8679B434E8CB}" type="datetime1">
              <a:rPr lang="de-DE" smtClean="0"/>
              <a:t>14.09.2026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7A03-5530-4C2A-BF5E-7B3F1C9A8DE4}" type="datetime1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hteck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hteck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hteck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hteck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0749-922B-4D6A-B2EE-D9F206560312}" type="datetime1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hteck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htec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hteck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hteck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A07AE43-7635-40DF-9339-AE9217393ED0}" type="datetime1">
              <a:rPr lang="de-DE" smtClean="0"/>
              <a:t>14.09.2026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Rechteck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8EE05F6-F5EA-4829-BBEC-F0B95B263042}" type="slidenum">
              <a:rPr lang="de-DE" smtClean="0"/>
              <a:t>‹Nr.›</a:t>
            </a:fld>
            <a:endParaRPr lang="de-DE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Editionstypen und Editionstechniken</a:t>
            </a:r>
            <a:endParaRPr lang="de-DE" sz="4000" dirty="0"/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0DC7F418-73EA-FBF7-B579-BEA97E3F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3400" y="2204864"/>
            <a:ext cx="457200" cy="441325"/>
          </a:xfrm>
        </p:spPr>
        <p:txBody>
          <a:bodyPr/>
          <a:lstStyle/>
          <a:p>
            <a:fld id="{28EE05F6-F5EA-4829-BBEC-F0B95B263042}" type="slidenum">
              <a:rPr lang="de-DE" smtClean="0"/>
              <a:t>1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5046865-7679-78AC-F209-0B86B7116962}"/>
              </a:ext>
            </a:extLst>
          </p:cNvPr>
          <p:cNvSpPr txBox="1"/>
          <p:nvPr/>
        </p:nvSpPr>
        <p:spPr>
          <a:xfrm>
            <a:off x="1331640" y="3441576"/>
            <a:ext cx="66967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Die Edition –  Begriffsbestimmung, Aufgaben, Bestandteile</a:t>
            </a:r>
          </a:p>
          <a:p>
            <a:endParaRPr lang="de-DE" dirty="0"/>
          </a:p>
          <a:p>
            <a:r>
              <a:rPr lang="de-DE" dirty="0"/>
              <a:t>Editionstypen</a:t>
            </a:r>
          </a:p>
        </p:txBody>
      </p:sp>
    </p:spTree>
    <p:extLst>
      <p:ext uri="{BB962C8B-B14F-4D97-AF65-F5344CB8AC3E}">
        <p14:creationId xmlns:p14="http://schemas.microsoft.com/office/powerpoint/2010/main" val="35308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Begriffsbestimmung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2</a:t>
            </a:fld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Eine Definition, die fächerübergreifende Gültigkeit beanspruchen kann und sowohl "klassische" typografische, also gedruckte Editionen in Buchform als auch digitale Editionen umfasst: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2000" dirty="0"/>
              <a:t> </a:t>
            </a:r>
            <a:r>
              <a:rPr lang="de-DE" dirty="0"/>
              <a:t>„Eine Edition ist die erschließende Wiedergabe </a:t>
            </a:r>
          </a:p>
          <a:p>
            <a:pPr marL="0" indent="0">
              <a:buNone/>
            </a:pPr>
            <a:r>
              <a:rPr lang="de-DE" dirty="0"/>
              <a:t>  historischer Dokumente." 		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„Eine Quellenedition ist die erschließende Wiedergabe </a:t>
            </a:r>
          </a:p>
          <a:p>
            <a:pPr marL="0" indent="0">
              <a:buNone/>
            </a:pPr>
            <a:r>
              <a:rPr lang="de-DE" dirty="0"/>
              <a:t>  historischer Quellen.“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/>
              <a:t>Vgl. </a:t>
            </a:r>
            <a:r>
              <a:rPr lang="de-DE" sz="1800" dirty="0" err="1"/>
              <a:t>Sahle</a:t>
            </a:r>
            <a:r>
              <a:rPr lang="de-DE" sz="1800" dirty="0"/>
              <a:t>, Patrick: digitale Editionsformen, Norderstedt 2013, Bd. 2, S. 138.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416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Edition in den Geisteswissenschaften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3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Im philologisch-wissenschaftlichen Sinne ist eine Edition der Versuch, entweder den Urtext bzw. den ursprünglich von der </a:t>
            </a:r>
            <a:r>
              <a:rPr lang="de-DE" dirty="0" err="1"/>
              <a:t>Autor:in</a:t>
            </a:r>
            <a:r>
              <a:rPr lang="de-DE" dirty="0"/>
              <a:t> beabsichtigten Text durch den kritischen Vergleich von Drucken und Handschriften und Materialien, die die </a:t>
            </a:r>
            <a:r>
              <a:rPr lang="de-DE" dirty="0" err="1"/>
              <a:t>Autor:in</a:t>
            </a:r>
            <a:r>
              <a:rPr lang="de-DE" dirty="0"/>
              <a:t> hinterlassen hat, wiederherzustellen oder einen historisch wirksamen Text, der unter Umständen weit von der Intention der </a:t>
            </a:r>
            <a:r>
              <a:rPr lang="de-DE" dirty="0" err="1"/>
              <a:t>Autor:in</a:t>
            </a:r>
            <a:r>
              <a:rPr lang="de-DE" dirty="0"/>
              <a:t> abweichen kann, in seinem Kontext, mit Hinweisen zur Rezeption, darzustellen.</a:t>
            </a:r>
          </a:p>
        </p:txBody>
      </p:sp>
    </p:spTree>
    <p:extLst>
      <p:ext uri="{BB962C8B-B14F-4D97-AF65-F5344CB8AC3E}">
        <p14:creationId xmlns:p14="http://schemas.microsoft.com/office/powerpoint/2010/main" val="161687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Aufgaben von Editionen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4</a:t>
            </a:fld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endParaRPr lang="de-DE" dirty="0"/>
          </a:p>
          <a:p>
            <a:r>
              <a:rPr lang="de-DE" dirty="0"/>
              <a:t>erleichtern den Zugang zu Quellen</a:t>
            </a:r>
          </a:p>
          <a:p>
            <a:r>
              <a:rPr lang="de-DE" dirty="0"/>
              <a:t>Schonung der Originaldokumente</a:t>
            </a:r>
          </a:p>
          <a:p>
            <a:r>
              <a:rPr lang="de-DE" dirty="0"/>
              <a:t>Langfristige Sicherung des Inhaltes von Quellen</a:t>
            </a:r>
          </a:p>
          <a:p>
            <a:r>
              <a:rPr lang="de-DE" dirty="0"/>
              <a:t>Lesehilfe durch Transkription</a:t>
            </a:r>
          </a:p>
          <a:p>
            <a:r>
              <a:rPr lang="de-DE" dirty="0"/>
              <a:t>Inhaltliche Hilfestellung durch Kommentar oder/ und Apparat</a:t>
            </a:r>
          </a:p>
          <a:p>
            <a:r>
              <a:rPr lang="de-DE" dirty="0"/>
              <a:t>Rekonstruktion der Entstehung der Quelle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sz="1800" dirty="0"/>
              <a:t>Vgl. Langmandel, Eva: Vom Archetypus zur Synopse. Edition früher und heute, Duisburg 2013.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307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Bestandteile der Quellenedition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5</a:t>
            </a:fld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die Quelle</a:t>
            </a:r>
          </a:p>
          <a:p>
            <a:r>
              <a:rPr lang="de-DE" dirty="0"/>
              <a:t>Zusammenfassung der wichtigsten Informationen der Quelle (Regest)</a:t>
            </a:r>
          </a:p>
          <a:p>
            <a:r>
              <a:rPr lang="de-DE" dirty="0"/>
              <a:t>Textanmerkungen/ Varianten</a:t>
            </a:r>
          </a:p>
          <a:p>
            <a:r>
              <a:rPr lang="de-DE" dirty="0"/>
              <a:t>Sachkommentar</a:t>
            </a:r>
          </a:p>
          <a:p>
            <a:r>
              <a:rPr lang="de-DE" dirty="0"/>
              <a:t>Einleitung/ Einführung</a:t>
            </a:r>
          </a:p>
          <a:p>
            <a:r>
              <a:rPr lang="de-DE" dirty="0"/>
              <a:t>Editionsgrundsätze</a:t>
            </a:r>
          </a:p>
          <a:p>
            <a:r>
              <a:rPr lang="de-DE" dirty="0"/>
              <a:t>Quellen- und Literaturverzeichnis</a:t>
            </a:r>
          </a:p>
          <a:p>
            <a:r>
              <a:rPr lang="de-DE" dirty="0"/>
              <a:t>Register </a:t>
            </a:r>
          </a:p>
        </p:txBody>
      </p:sp>
    </p:spTree>
    <p:extLst>
      <p:ext uri="{BB962C8B-B14F-4D97-AF65-F5344CB8AC3E}">
        <p14:creationId xmlns:p14="http://schemas.microsoft.com/office/powerpoint/2010/main" val="251274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editorische Ziele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6</a:t>
            </a:fld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philologisch bearbeiteter Text </a:t>
            </a:r>
          </a:p>
          <a:p>
            <a:r>
              <a:rPr lang="de-DE" sz="2800" dirty="0"/>
              <a:t>Breite der Textvarianz sichtbar machen </a:t>
            </a:r>
          </a:p>
          <a:p>
            <a:r>
              <a:rPr lang="de-DE" sz="2800" dirty="0"/>
              <a:t>Analyse des Text-Entstehungsprozesses</a:t>
            </a:r>
          </a:p>
          <a:p>
            <a:r>
              <a:rPr lang="de-DE" sz="2800" dirty="0"/>
              <a:t>Herstellung von gut benutzbarem, lesernahem Text </a:t>
            </a:r>
          </a:p>
          <a:p>
            <a:r>
              <a:rPr lang="de-DE" sz="2800" dirty="0"/>
              <a:t>Form der überlieferten Dokumente zeigen</a:t>
            </a:r>
          </a:p>
          <a:p>
            <a:r>
              <a:rPr lang="de-DE" sz="2800" dirty="0"/>
              <a:t> Informationsgehalt von Dokumenten </a:t>
            </a:r>
          </a:p>
          <a:p>
            <a:pPr marL="0" indent="0">
              <a:buNone/>
            </a:pPr>
            <a:r>
              <a:rPr lang="de-DE" sz="2800" dirty="0"/>
              <a:t>    herausarbeiten</a:t>
            </a:r>
          </a:p>
          <a:p>
            <a:r>
              <a:rPr lang="de-DE" sz="2800" dirty="0"/>
              <a:t>Abbildung schriftsprachlicher Eigenheiten</a:t>
            </a:r>
          </a:p>
        </p:txBody>
      </p:sp>
    </p:spTree>
    <p:extLst>
      <p:ext uri="{BB962C8B-B14F-4D97-AF65-F5344CB8AC3E}">
        <p14:creationId xmlns:p14="http://schemas.microsoft.com/office/powerpoint/2010/main" val="418958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Editionstypen I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7</a:t>
            </a:fld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historisch-kritische Edition </a:t>
            </a:r>
          </a:p>
          <a:p>
            <a:pPr marL="0" indent="0">
              <a:buNone/>
            </a:pPr>
            <a:r>
              <a:rPr lang="de-DE" sz="2000" dirty="0"/>
              <a:t>(historisch: betrachtet den Text in seiner Geschichte, ggf. unterschiedliche Textstufen, z.B. mehrere Manuskripte, Typoskripte, Drucke</a:t>
            </a:r>
          </a:p>
          <a:p>
            <a:pPr marL="0" indent="0">
              <a:buNone/>
            </a:pPr>
            <a:r>
              <a:rPr lang="de-DE" sz="2000" dirty="0"/>
              <a:t>kritisch: Darstellung von Varianten, Korrekturprozessen in einem textkritischen Apparat)</a:t>
            </a:r>
          </a:p>
          <a:p>
            <a:r>
              <a:rPr lang="de-DE" dirty="0"/>
              <a:t>Die wissenschaftliche Studienausgabe </a:t>
            </a:r>
          </a:p>
          <a:p>
            <a:pPr marL="0" indent="0">
              <a:buNone/>
            </a:pPr>
            <a:r>
              <a:rPr lang="de-DE" sz="2000" dirty="0"/>
              <a:t>(kleine Edition mit verschlanktem Apparat, preisgünstig, kein Anspruch auf Vollständigkeit, Präsentation eines gesicherten Textes, für ein breiteres Publikum)</a:t>
            </a:r>
            <a:endParaRPr lang="de-DE" sz="1800" dirty="0"/>
          </a:p>
          <a:p>
            <a:r>
              <a:rPr lang="de-DE" dirty="0"/>
              <a:t>Die Volks- und Leseausgabe </a:t>
            </a:r>
          </a:p>
          <a:p>
            <a:pPr marL="0" indent="0">
              <a:buNone/>
            </a:pPr>
            <a:r>
              <a:rPr lang="de-DE" sz="2000" dirty="0"/>
              <a:t>(dienen Popularisierung des Textes, kein Anmerkungsapparat und erhöhte Lesefreundlichkeit, oft modernisierte Orthografie)</a:t>
            </a:r>
          </a:p>
          <a:p>
            <a:endParaRPr lang="de-DE" sz="1800" dirty="0"/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sz="1800" dirty="0"/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846871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Editionstypen II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E05F6-F5EA-4829-BBEC-F0B95B263042}" type="slidenum">
              <a:rPr lang="de-DE" smtClean="0"/>
              <a:t>8</a:t>
            </a:fld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Die </a:t>
            </a:r>
            <a:r>
              <a:rPr lang="de-DE" dirty="0" err="1"/>
              <a:t>Regestenedition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sz="2000" dirty="0"/>
              <a:t>(systematischen Erschließung in Form eines Regests, Erschließungsmöglichkeit für große, oftmals nicht edierte </a:t>
            </a:r>
            <a:r>
              <a:rPr lang="de-DE" sz="2000" dirty="0" err="1"/>
              <a:t>Quellencorpora</a:t>
            </a:r>
            <a:r>
              <a:rPr lang="de-DE" sz="2000" dirty="0"/>
              <a:t>, Verzicht auf den Abdruck des eigentlichen Quellentextes)</a:t>
            </a:r>
          </a:p>
          <a:p>
            <a:pPr marL="0" indent="0">
              <a:buNone/>
            </a:pPr>
            <a:endParaRPr lang="de-DE" sz="2000" dirty="0"/>
          </a:p>
          <a:p>
            <a:r>
              <a:rPr lang="de-DE" dirty="0"/>
              <a:t>Die Faksimile-Edition</a:t>
            </a:r>
          </a:p>
          <a:p>
            <a:pPr marL="0" indent="0">
              <a:buNone/>
            </a:pPr>
            <a:r>
              <a:rPr lang="de-DE" sz="2000" dirty="0"/>
              <a:t>(fotomechanische bzw. digitale Reproduktion der Originalquelle, fraglich, ob überhaupt eine Edition vorliegt, manchmal mit Transkription)</a:t>
            </a:r>
          </a:p>
          <a:p>
            <a:pPr marL="0" indent="0">
              <a:buNone/>
            </a:pPr>
            <a:endParaRPr lang="de-DE" sz="1600" dirty="0"/>
          </a:p>
          <a:p>
            <a:r>
              <a:rPr lang="de-DE" dirty="0"/>
              <a:t>Die retrodigitalisierte Edition </a:t>
            </a:r>
          </a:p>
          <a:p>
            <a:pPr marL="0" indent="0">
              <a:buNone/>
            </a:pPr>
            <a:r>
              <a:rPr lang="de-DE" sz="2000" dirty="0"/>
              <a:t>(Bereitstellung bereits in Buchform gedruckter Editionen als elektronische Volltexte oder digitale Abbildungen, keine digitalen, sondern digitalisierte Editionen) </a:t>
            </a:r>
          </a:p>
          <a:p>
            <a:pPr marL="0" indent="0">
              <a:buNone/>
            </a:pPr>
            <a:endParaRPr lang="de-DE" sz="20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Bodo </a:t>
            </a:r>
            <a:r>
              <a:rPr lang="de-DE" sz="19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Plachta</a:t>
            </a:r>
            <a:r>
              <a:rPr lang="de-DE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de-DE" sz="19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Editionswissenschaft. Eine Einführung in Methode und Praxis der Edition neuerer Texte</a:t>
            </a:r>
            <a:r>
              <a:rPr lang="de-DE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(= </a:t>
            </a:r>
            <a:r>
              <a:rPr lang="de-DE" sz="19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Universal-Bibliothek.</a:t>
            </a:r>
            <a:r>
              <a:rPr lang="de-DE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17603 </a:t>
            </a:r>
            <a:r>
              <a:rPr lang="de-DE" sz="19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Literaturstudium</a:t>
            </a:r>
            <a:r>
              <a:rPr lang="de-DE" sz="1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Reclam, Stuttgart 1997.</a:t>
            </a:r>
            <a:endParaRPr lang="de-DE" sz="1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sz="2000" dirty="0"/>
              <a:t>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1320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ronus">
  <a:themeElements>
    <a:clrScheme name="Cronus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ronus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ronus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0</TotalTime>
  <Words>477</Words>
  <Application>Microsoft Office PowerPoint</Application>
  <PresentationFormat>Bildschirmpräsentation (4:3)</PresentationFormat>
  <Paragraphs>74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Calibri</vt:lpstr>
      <vt:lpstr>Georgia</vt:lpstr>
      <vt:lpstr>Times New Roman</vt:lpstr>
      <vt:lpstr>Wingdings</vt:lpstr>
      <vt:lpstr>Wingdings 2</vt:lpstr>
      <vt:lpstr>Cronus</vt:lpstr>
      <vt:lpstr>Editionstypen und Editionstechniken</vt:lpstr>
      <vt:lpstr>Begriffsbestimmung</vt:lpstr>
      <vt:lpstr>Die Edition in den Geisteswissenschaften</vt:lpstr>
      <vt:lpstr>Aufgaben von Editionen</vt:lpstr>
      <vt:lpstr>Mögliche Bestandteile der Quellenedition</vt:lpstr>
      <vt:lpstr>Mögliche editorische Ziele</vt:lpstr>
      <vt:lpstr>Editionstypen I</vt:lpstr>
      <vt:lpstr>Editionstypen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Philologie und Editionswissenschaften</dc:title>
  <dc:creator>Ritter Runkel</dc:creator>
  <cp:lastModifiedBy>Glaser, Margrit</cp:lastModifiedBy>
  <cp:revision>70</cp:revision>
  <cp:lastPrinted>2021-10-29T11:47:15Z</cp:lastPrinted>
  <dcterms:created xsi:type="dcterms:W3CDTF">2021-10-14T15:08:32Z</dcterms:created>
  <dcterms:modified xsi:type="dcterms:W3CDTF">2026-09-14T04:14:12Z</dcterms:modified>
</cp:coreProperties>
</file>